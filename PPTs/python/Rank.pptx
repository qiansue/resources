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  <p:sldMasterId id="2147484294" r:id="rId2"/>
    <p:sldMasterId id="2147484296" r:id="rId3"/>
    <p:sldMasterId id="2147484298" r:id="rId4"/>
    <p:sldMasterId id="2147484300" r:id="rId5"/>
    <p:sldMasterId id="2147484301" r:id="rId6"/>
    <p:sldMasterId id="2147484302" r:id="rId7"/>
    <p:sldMasterId id="2147484303" r:id="rId8"/>
    <p:sldMasterId id="2147484304" r:id="rId9"/>
    <p:sldMasterId id="2147484305" r:id="rId10"/>
    <p:sldMasterId id="2147484306" r:id="rId11"/>
  </p:sldMasterIdLst>
  <p:notesMasterIdLst>
    <p:notesMasterId r:id="rId40"/>
  </p:notesMasterIdLst>
  <p:sldIdLst>
    <p:sldId id="256" r:id="rId12"/>
    <p:sldId id="257" r:id="rId13"/>
    <p:sldId id="361" r:id="rId14"/>
    <p:sldId id="363" r:id="rId15"/>
    <p:sldId id="362" r:id="rId16"/>
    <p:sldId id="364" r:id="rId17"/>
    <p:sldId id="365" r:id="rId18"/>
    <p:sldId id="366" r:id="rId19"/>
    <p:sldId id="367" r:id="rId20"/>
    <p:sldId id="368" r:id="rId21"/>
    <p:sldId id="369" r:id="rId22"/>
    <p:sldId id="372" r:id="rId23"/>
    <p:sldId id="371" r:id="rId24"/>
    <p:sldId id="373" r:id="rId25"/>
    <p:sldId id="375" r:id="rId26"/>
    <p:sldId id="376" r:id="rId27"/>
    <p:sldId id="377" r:id="rId28"/>
    <p:sldId id="378" r:id="rId29"/>
    <p:sldId id="374" r:id="rId30"/>
    <p:sldId id="379" r:id="rId31"/>
    <p:sldId id="380" r:id="rId32"/>
    <p:sldId id="381" r:id="rId33"/>
    <p:sldId id="382" r:id="rId34"/>
    <p:sldId id="385" r:id="rId35"/>
    <p:sldId id="384" r:id="rId36"/>
    <p:sldId id="383" r:id="rId37"/>
    <p:sldId id="386" r:id="rId38"/>
    <p:sldId id="387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>
          <p15:clr>
            <a:srgbClr val="A4A3A4"/>
          </p15:clr>
        </p15:guide>
        <p15:guide id="2" pos="28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4E684"/>
    <a:srgbClr val="C00000"/>
    <a:srgbClr val="99ED81"/>
    <a:srgbClr val="FF776B"/>
    <a:srgbClr val="CC3300"/>
    <a:srgbClr val="7CEEC0"/>
    <a:srgbClr val="6B98FF"/>
    <a:srgbClr val="A601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357" autoAdjust="0"/>
  </p:normalViewPr>
  <p:slideViewPr>
    <p:cSldViewPr>
      <p:cViewPr varScale="1">
        <p:scale>
          <a:sx n="119" d="100"/>
          <a:sy n="119" d="100"/>
        </p:scale>
        <p:origin x="1374" y="108"/>
      </p:cViewPr>
      <p:guideLst>
        <p:guide orient="horz" pos="2220"/>
        <p:guide pos="288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5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9" Type="http://schemas.openxmlformats.org/officeDocument/2006/relationships/slide" Target="slides/slide28.xml"/><Relationship Id="rId21" Type="http://schemas.openxmlformats.org/officeDocument/2006/relationships/slide" Target="slides/slide10.xml"/><Relationship Id="rId34" Type="http://schemas.openxmlformats.org/officeDocument/2006/relationships/slide" Target="slides/slide23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slide" Target="slides/slide1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40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36" Type="http://schemas.openxmlformats.org/officeDocument/2006/relationships/slide" Target="slides/slide25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slide" Target="slides/slide20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33" Type="http://schemas.openxmlformats.org/officeDocument/2006/relationships/slide" Target="slides/slide22.xml"/><Relationship Id="rId38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050925" y="754063"/>
            <a:ext cx="4572000" cy="329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8163" y="4387850"/>
            <a:ext cx="5780087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6800"/>
            <a:ext cx="2974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200"/>
            </a:lvl1pPr>
          </a:lstStyle>
          <a:p>
            <a:pPr>
              <a:defRPr/>
            </a:pPr>
            <a:fld id="{7F0FE7A2-B0C0-4B4A-ACBD-58E72CB30AC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32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143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E45341-68C5-49A1-B088-E9112C0A9A81}" type="slidenum">
              <a:rPr lang="zh-CN" altLang="en-US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28509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16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638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B29E7A-E137-4AEB-93A5-288D03608BC9}" type="slidenum">
              <a:rPr lang="zh-CN" altLang="en-US" smtClean="0"/>
              <a:pPr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194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351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6512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93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10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501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654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9463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16786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0872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54504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88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8268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2979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574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942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04270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049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5481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402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6347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68641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34013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7764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1413" y="754063"/>
            <a:ext cx="4391025" cy="3294062"/>
          </a:xfrm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1EBC2E-A89A-4333-A60A-3DBADDC24300}" type="slidenum">
              <a:rPr lang="zh-CN" altLang="en-US" smtClean="0"/>
              <a:pPr/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557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D14EA-FEC4-4199-92F8-62920EB7995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290293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45AC6-8E7C-4FD8-98F1-6B5AC70B509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646191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2D7701-FFF0-4200-AF9C-BE701E5191B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21443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50D74-ECF5-4111-9C4D-BB24EB2969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089114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A359C6-CBA6-4799-87B4-A8796B6F1A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6024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12CA8-4245-418D-B402-761252A6F7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48616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8B26E-6311-4C13-8380-05145A001B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91077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A0A3E8-D708-44A3-976D-ABA87C902B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04439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26661-BBAF-4B1B-850C-7B4344103E5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57823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6C7F28-C1CC-4E79-9237-4CFE2F3998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94717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B20768-9A0F-4FB1-9ED9-CA44C1F7731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766171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773EC0-9FA2-47A8-982F-2A1BA8EB1C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22308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8F999-5777-44F4-A869-0989D8F77A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43373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01F073-C7C7-468D-913E-110376B7B8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667572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4AEBC3-C1CF-4481-AAF1-598F6ED216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29930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386DF9-D068-4CD9-911A-A5D1656783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45194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DD2D6-8E2F-427E-A60A-EA746EB121D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417245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86640-1167-4DF3-B55F-973BA1C2A3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943336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160524-0E4B-4ADD-B4E9-F11283F7E2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990232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DD66A-899F-40A7-AD42-1A9BA50E40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29952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77B70-86DD-4008-8F8A-657150641E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899672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AEDBF-D95B-4126-8CDF-28DBD7C986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33005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F13E52-F883-4B9D-8AF0-29C1AC6F3B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8952811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9BD7F-AFB9-4DD4-90B9-F98FBEA7693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6501098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93676-7191-4F95-9AA9-C04BAD9B27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38805506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B7197-856F-4BD3-A070-A900229133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2805273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87044-BDEA-4AB6-9F67-6A9CC28344C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5747429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D548E-F2FA-4E97-9F8A-9F06DB02379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0851279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03CEC-7B80-4612-B76E-98381FB4DE1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035074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0CB957-25DD-422B-B32C-1BD2F4E9AD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789756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340F4-7A7C-4B5B-8D37-C725AEEEAD1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6751557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19803B-91BE-4925-8B09-679F455786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189570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8D1CC-B063-46EF-A651-D583862D1FC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0913736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D8A9D-B45E-4C43-861B-9155B33448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552313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88DB3-1F27-47CF-B66E-04AF7BE617D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693575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F50B2-07A1-4D8A-824C-64DE719422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5810627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F9475-08FF-468A-B8D6-C87F35C6D4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1605004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6E226-C0F2-4F25-BD9E-4FACD82D8EB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8670192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2C40D-9B73-4594-A40B-DACFC8D297D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039475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18CE9-864B-49F8-B081-710D99BB2D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98037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A0DA10-412C-4767-B2BC-B7DB4EA321E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200291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42A13-2DCD-4914-8148-FB5CABA28F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979544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D8CDA-7778-4242-8374-9CE698861C2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63944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5C49F-703C-4E30-9A27-7062E919690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9408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7A92F-6B22-4802-B12A-CCCECD47528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0731563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45A2E-CAEE-4567-A2E1-F377C520B2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994378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225AE-6D65-4BCD-9F7F-880660B4DB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924138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B8DCFD-C430-4E0D-B0BE-675B71823F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2469671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34D2E6-FE15-4C60-91F8-822CEA22D7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019245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2A3342-E8C1-4B3A-90B8-0ABC60515D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241687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9EDB47-F0AC-4EFC-A4F9-C00FAD7F2C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0170078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21D7D3-25C9-4BC7-A98F-9FDD715AB0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417252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148B3B-2015-45CF-A5C1-FBDA88B10FC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4271947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E93274-C3B2-490D-A2D7-19BF6B0FDCE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707747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F1E2B4-4EC9-4684-BE29-D9692A4B552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136039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656AF-8604-4058-AA07-32BFBA7AF2C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4689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641E6-CAD2-4EDB-9B91-7443B305511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775512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89E50-E288-40A7-BFD4-BD45D60B1F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134132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48F259-57D2-4437-B0BC-81554E60DB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3999001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B32FBF-D1CE-4082-A512-E00AEC13BE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4438258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2E640-CC7A-451C-8E10-8EFA1D1FA4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7385721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678AB-47ED-4DC2-91F2-07F8FE21329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492543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6E1050-1BF2-46D5-AE86-284732F88C5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41237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8392B-1D8F-46D3-A585-28B9B2F617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818705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F63E5-72B1-41A4-A15F-21EB776FD82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2950675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28D187-9685-49E4-872B-B7B4505C47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8107453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7AE61-C73D-4586-8667-6EFF104CBD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194056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26D50-46EB-4348-971A-6BB4EE4D38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465793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80067E-5FC8-47A8-893E-604060607B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41583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EC9A6-4556-4509-A1E9-0AFEA7E386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3511001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9F981-D8B8-44FA-AF95-883FE3B6B9A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14898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56D4E-0008-4808-8AAD-15D8B3A698F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705088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81B161-A503-4583-81A2-4174180743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401477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19E6-31B9-4300-A335-D7013857527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9589284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8F476-EC6F-423C-ACCD-F7B4E235C5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554109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A682E-FD3D-4F85-9990-AE05A417AE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051547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496A4D-9B29-42E2-818F-14E54660230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2836243"/>
      </p:ext>
    </p:extLst>
  </p:cSld>
  <p:clrMapOvr>
    <a:masterClrMapping/>
  </p:clrMapOvr>
  <p:transition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FA0B47-977E-4923-96F4-87AA7E2889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464392"/>
      </p:ext>
    </p:extLst>
  </p:cSld>
  <p:clrMapOvr>
    <a:masterClrMapping/>
  </p:clrMapOvr>
  <p:transition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553EB-F66E-4948-8D40-CA39221526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8613348"/>
      </p:ext>
    </p:extLst>
  </p:cSld>
  <p:clrMapOvr>
    <a:masterClrMapping/>
  </p:clrMapOvr>
  <p:transition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96560-D347-4E21-B270-38E69FD6AC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561233"/>
      </p:ext>
    </p:extLst>
  </p:cSld>
  <p:clrMapOvr>
    <a:masterClrMapping/>
  </p:clrMapOvr>
  <p:transition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9FD0E-24F5-49B7-BB4F-3E214A18EC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309762"/>
      </p:ext>
    </p:extLst>
  </p:cSld>
  <p:clrMapOvr>
    <a:masterClrMapping/>
  </p:clrMapOvr>
  <p:transition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7328C6-13D4-45E6-AB53-4CBD62FE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9386960"/>
      </p:ext>
    </p:extLst>
  </p:cSld>
  <p:clrMapOvr>
    <a:masterClrMapping/>
  </p:clrMapOvr>
  <p:transition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3C71D-2F74-422C-9D4E-F167922AD7D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6881051"/>
      </p:ext>
    </p:extLst>
  </p:cSld>
  <p:clrMapOvr>
    <a:masterClrMapping/>
  </p:clrMapOvr>
  <p:transition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64D8D8-01B0-4F1E-B1A8-9D1865A8B2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463939"/>
      </p:ext>
    </p:extLst>
  </p:cSld>
  <p:clrMapOvr>
    <a:masterClrMapping/>
  </p:clrMapOvr>
  <p:transition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9EF39-2517-4A39-96B9-8AAF943E5F1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88118766"/>
      </p:ext>
    </p:extLst>
  </p:cSld>
  <p:clrMapOvr>
    <a:masterClrMapping/>
  </p:clrMapOvr>
  <p:transition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6F2C9-A020-4419-839E-F98807C7DA1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0181074"/>
      </p:ext>
    </p:extLst>
  </p:cSld>
  <p:clrMapOvr>
    <a:masterClrMapping/>
  </p:clrMapOvr>
  <p:transition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8093F-99FC-4F12-B846-F7A800832E2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5836239"/>
      </p:ext>
    </p:extLst>
  </p:cSld>
  <p:clrMapOvr>
    <a:masterClrMapping/>
  </p:clrMapOvr>
  <p:transition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6C7889-AA3C-452E-9CCD-9B4665211B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0067668"/>
      </p:ext>
    </p:extLst>
  </p:cSld>
  <p:clrMapOvr>
    <a:masterClrMapping/>
  </p:clrMapOvr>
  <p:transition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DA9EC-CDE5-4A75-903B-13B7E3B2D02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8869856"/>
      </p:ext>
    </p:extLst>
  </p:cSld>
  <p:clrMapOvr>
    <a:masterClrMapping/>
  </p:clrMapOvr>
  <p:transition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FF823-7DAF-4AFF-8CEE-BCB72E0F444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9575602"/>
      </p:ext>
    </p:extLst>
  </p:cSld>
  <p:clrMapOvr>
    <a:masterClrMapping/>
  </p:clrMapOvr>
  <p:transition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5A57F2-DAD6-4717-8646-43755692A8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5470811"/>
      </p:ext>
    </p:extLst>
  </p:cSld>
  <p:clrMapOvr>
    <a:masterClrMapping/>
  </p:clrMapOvr>
  <p:transition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A126C-2FDC-4190-A108-9676BA6F83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63782"/>
      </p:ext>
    </p:extLst>
  </p:cSld>
  <p:clrMapOvr>
    <a:masterClrMapping/>
  </p:clrMapOvr>
  <p:transition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52C83-F5CF-4749-B0FE-6A276BAC24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9803234"/>
      </p:ext>
    </p:extLst>
  </p:cSld>
  <p:clrMapOvr>
    <a:masterClrMapping/>
  </p:clrMapOvr>
  <p:transition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D7318F-8831-43D4-B62B-5725E48A6E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857379"/>
      </p:ext>
    </p:extLst>
  </p:cSld>
  <p:clrMapOvr>
    <a:masterClrMapping/>
  </p:clrMapOvr>
  <p:transition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5EA91-294F-49A7-A5E6-8FE6AC71EEF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8562294"/>
      </p:ext>
    </p:extLst>
  </p:cSld>
  <p:clrMapOvr>
    <a:masterClrMapping/>
  </p:clrMapOvr>
  <p:transition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4A59E5-BB2A-4164-AC37-74D57330C59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6091448"/>
      </p:ext>
    </p:extLst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4819F-C08B-404C-A2AD-CCDBE5591D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5406395"/>
      </p:ext>
    </p:extLst>
  </p:cSld>
  <p:clrMapOvr>
    <a:masterClrMapping/>
  </p:clrMapOvr>
  <p:transition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24D13-90F0-414B-85EF-922D3B4DE3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521506"/>
      </p:ext>
    </p:extLst>
  </p:cSld>
  <p:clrMapOvr>
    <a:masterClrMapping/>
  </p:clrMapOvr>
  <p:transition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25858-886B-4AC9-AD13-8C58B0BA6FA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1373133"/>
      </p:ext>
    </p:extLst>
  </p:cSld>
  <p:clrMapOvr>
    <a:masterClrMapping/>
  </p:clrMapOvr>
  <p:transition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27522-38AE-4A6A-A49C-3E61BB144B7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8048721"/>
      </p:ext>
    </p:extLst>
  </p:cSld>
  <p:clrMapOvr>
    <a:masterClrMapping/>
  </p:clrMapOvr>
  <p:transition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2FF5D-4F64-41B9-8487-BEB018258B6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2053252"/>
      </p:ext>
    </p:extLst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008C3D-DBF5-433E-8E49-A856F81965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3130285"/>
      </p:ext>
    </p:extLst>
  </p:cSld>
  <p:clrMapOvr>
    <a:masterClrMapping/>
  </p:clrMapOvr>
  <p:transition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BC19A2-527B-4B70-8FB2-F9DB6431C0E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5931583"/>
      </p:ext>
    </p:extLst>
  </p:cSld>
  <p:clrMapOvr>
    <a:masterClrMapping/>
  </p:clrMapOvr>
  <p:transition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E5A3E6-B298-4DC6-A418-2A7609552FA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309063"/>
      </p:ext>
    </p:extLst>
  </p:cSld>
  <p:clrMapOvr>
    <a:masterClrMapping/>
  </p:clrMapOvr>
  <p:transition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75DA0-3DEB-40C2-B045-33F8C89C577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79366"/>
      </p:ext>
    </p:extLst>
  </p:cSld>
  <p:clrMapOvr>
    <a:masterClrMapping/>
  </p:clrMapOvr>
  <p:transition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0B0D60-7EBC-4536-9788-3C87C577EA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8108752"/>
      </p:ext>
    </p:extLst>
  </p:cSld>
  <p:clrMapOvr>
    <a:masterClrMapping/>
  </p:clrMapOvr>
  <p:transition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B63710-B0AB-4F0B-AC89-21FA5EAF48E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480317"/>
      </p:ext>
    </p:extLst>
  </p:cSld>
  <p:clrMapOvr>
    <a:masterClrMapping/>
  </p:clrMapOvr>
  <p:transition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7BFDA-40CF-4595-8112-4EBC2A687C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2696439"/>
      </p:ext>
    </p:extLst>
  </p:cSld>
  <p:clrMapOvr>
    <a:masterClrMapping/>
  </p:clrMapOvr>
  <p:transition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4486E-E546-4D03-9A4B-85CE6B9DD4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359687"/>
      </p:ext>
    </p:extLst>
  </p:cSld>
  <p:clrMapOvr>
    <a:masterClrMapping/>
  </p:clrMapOvr>
  <p:transition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6E95C-05E0-4017-81BF-2118726B5C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352847"/>
      </p:ext>
    </p:extLst>
  </p:cSld>
  <p:clrMapOvr>
    <a:masterClrMapping/>
  </p:clrMapOvr>
  <p:transition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C1261-E381-4F07-8A2E-AFF2A0AD12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9154632"/>
      </p:ext>
    </p:extLst>
  </p:cSld>
  <p:clrMapOvr>
    <a:masterClrMapping/>
  </p:clrMapOvr>
  <p:transition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100ABF-834B-4EA9-81C6-731DB47CBE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0539274"/>
      </p:ext>
    </p:extLst>
  </p:cSld>
  <p:clrMapOvr>
    <a:masterClrMapping/>
  </p:clrMapOvr>
  <p:transition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2EC4E-D5BC-4ED8-A5CE-2DE44B3DF2B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0407510"/>
      </p:ext>
    </p:extLst>
  </p:cSld>
  <p:clrMapOvr>
    <a:masterClrMapping/>
  </p:clrMapOvr>
  <p:transition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C27A4-4FB2-408C-8EAE-9EBB4B15DAC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2105364"/>
      </p:ext>
    </p:extLst>
  </p:cSld>
  <p:clrMapOvr>
    <a:masterClrMapping/>
  </p:clrMapOvr>
  <p:transition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14588-2425-4E57-A6AE-0CB17ECFA2A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482321"/>
      </p:ext>
    </p:extLst>
  </p:cSld>
  <p:clrMapOvr>
    <a:masterClrMapping/>
  </p:clrMapOvr>
  <p:transition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6ED72E-8BA4-4612-94A7-FBA62A312B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6545791"/>
      </p:ext>
    </p:extLst>
  </p:cSld>
  <p:clrMapOvr>
    <a:masterClrMapping/>
  </p:clrMapOvr>
  <p:transition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8B64AB-8973-4BBE-935C-54AC6052B83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6600123"/>
      </p:ext>
    </p:extLst>
  </p:cSld>
  <p:clrMapOvr>
    <a:masterClrMapping/>
  </p:clrMapOvr>
  <p:transition/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030EC3-3BF9-4917-B55A-BF3364EDA1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2760652"/>
      </p:ext>
    </p:extLst>
  </p:cSld>
  <p:clrMapOvr>
    <a:masterClrMapping/>
  </p:clrMapOvr>
  <p:transition/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5B16A-9583-49B6-8C8A-BFD5761D40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6254103"/>
      </p:ext>
    </p:extLst>
  </p:cSld>
  <p:clrMapOvr>
    <a:masterClrMapping/>
  </p:clrMapOvr>
  <p:transition/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795D7D-AF0F-4B1B-9CAA-D324CFC8DA5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7972785"/>
      </p:ext>
    </p:extLst>
  </p:cSld>
  <p:clrMapOvr>
    <a:masterClrMapping/>
  </p:clrMapOvr>
  <p:transition/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04813"/>
            <a:ext cx="2057400" cy="57213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04813"/>
            <a:ext cx="6019800" cy="57213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130B5-6262-4B1E-9DE1-A1666DD895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6180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A729474B-FD3B-423F-9401-0AA6A500F0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032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3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7" r:id="rId1"/>
    <p:sldLayoutId id="2147484308" r:id="rId2"/>
    <p:sldLayoutId id="2147484309" r:id="rId3"/>
    <p:sldLayoutId id="2147484310" r:id="rId4"/>
    <p:sldLayoutId id="2147484311" r:id="rId5"/>
    <p:sldLayoutId id="2147484312" r:id="rId6"/>
    <p:sldLayoutId id="2147484313" r:id="rId7"/>
    <p:sldLayoutId id="2147484314" r:id="rId8"/>
    <p:sldLayoutId id="2147484315" r:id="rId9"/>
    <p:sldLayoutId id="2147484316" r:id="rId10"/>
    <p:sldLayoutId id="214748431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2052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308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8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05557E45-EB8A-47E6-9CAA-54D8A28AD3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8" r:id="rId1"/>
    <p:sldLayoutId id="2147484319" r:id="rId2"/>
    <p:sldLayoutId id="2147484320" r:id="rId3"/>
    <p:sldLayoutId id="2147484321" r:id="rId4"/>
    <p:sldLayoutId id="2147484322" r:id="rId5"/>
    <p:sldLayoutId id="2147484323" r:id="rId6"/>
    <p:sldLayoutId id="2147484324" r:id="rId7"/>
    <p:sldLayoutId id="2147484325" r:id="rId8"/>
    <p:sldLayoutId id="2147484326" r:id="rId9"/>
    <p:sldLayoutId id="2147484327" r:id="rId10"/>
    <p:sldLayoutId id="2147484328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076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51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CEC8A6D4-EC1A-492F-8AB6-8F487EDAF4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9" r:id="rId1"/>
    <p:sldLayoutId id="2147484330" r:id="rId2"/>
    <p:sldLayoutId id="2147484331" r:id="rId3"/>
    <p:sldLayoutId id="2147484332" r:id="rId4"/>
    <p:sldLayoutId id="2147484333" r:id="rId5"/>
    <p:sldLayoutId id="2147484334" r:id="rId6"/>
    <p:sldLayoutId id="2147484335" r:id="rId7"/>
    <p:sldLayoutId id="2147484336" r:id="rId8"/>
    <p:sldLayoutId id="2147484337" r:id="rId9"/>
    <p:sldLayoutId id="2147484338" r:id="rId10"/>
    <p:sldLayoutId id="2147484339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100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410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7176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7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8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2E3CE29D-5E76-4564-878E-DAA7B9F1DA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0" r:id="rId1"/>
    <p:sldLayoutId id="2147484341" r:id="rId2"/>
    <p:sldLayoutId id="2147484342" r:id="rId3"/>
    <p:sldLayoutId id="2147484343" r:id="rId4"/>
    <p:sldLayoutId id="2147484344" r:id="rId5"/>
    <p:sldLayoutId id="2147484345" r:id="rId6"/>
    <p:sldLayoutId id="2147484346" r:id="rId7"/>
    <p:sldLayoutId id="2147484347" r:id="rId8"/>
    <p:sldLayoutId id="2147484348" r:id="rId9"/>
    <p:sldLayoutId id="2147484349" r:id="rId10"/>
    <p:sldLayoutId id="2147484350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124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1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51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9224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5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193F628B-2AE4-4D71-9993-59E0398755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1" r:id="rId1"/>
    <p:sldLayoutId id="2147484352" r:id="rId2"/>
    <p:sldLayoutId id="2147484353" r:id="rId3"/>
    <p:sldLayoutId id="2147484354" r:id="rId4"/>
    <p:sldLayoutId id="2147484355" r:id="rId5"/>
    <p:sldLayoutId id="2147484356" r:id="rId6"/>
    <p:sldLayoutId id="2147484357" r:id="rId7"/>
    <p:sldLayoutId id="2147484358" r:id="rId8"/>
    <p:sldLayoutId id="2147484359" r:id="rId9"/>
    <p:sldLayoutId id="2147484360" r:id="rId10"/>
    <p:sldLayoutId id="2147484361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6148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615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615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24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5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C18D065F-A312-4008-85B1-C13FEDA508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2" r:id="rId1"/>
    <p:sldLayoutId id="2147484363" r:id="rId2"/>
    <p:sldLayoutId id="2147484364" r:id="rId3"/>
    <p:sldLayoutId id="2147484365" r:id="rId4"/>
    <p:sldLayoutId id="2147484366" r:id="rId5"/>
    <p:sldLayoutId id="2147484367" r:id="rId6"/>
    <p:sldLayoutId id="2147484368" r:id="rId7"/>
    <p:sldLayoutId id="2147484369" r:id="rId8"/>
    <p:sldLayoutId id="2147484370" r:id="rId9"/>
    <p:sldLayoutId id="2147484371" r:id="rId10"/>
    <p:sldLayoutId id="2147484372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7172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717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7175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127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7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AEA31779-5A4F-42FF-830C-B812057FDAD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3" r:id="rId1"/>
    <p:sldLayoutId id="2147484374" r:id="rId2"/>
    <p:sldLayoutId id="2147484375" r:id="rId3"/>
    <p:sldLayoutId id="2147484376" r:id="rId4"/>
    <p:sldLayoutId id="2147484377" r:id="rId5"/>
    <p:sldLayoutId id="2147484378" r:id="rId6"/>
    <p:sldLayoutId id="2147484379" r:id="rId7"/>
    <p:sldLayoutId id="2147484380" r:id="rId8"/>
    <p:sldLayoutId id="2147484381" r:id="rId9"/>
    <p:sldLayoutId id="2147484382" r:id="rId10"/>
    <p:sldLayoutId id="2147484383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8196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198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8199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229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29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D92D05E9-BD73-41B5-AE25-D01C0A0B24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84" r:id="rId1"/>
    <p:sldLayoutId id="2147484385" r:id="rId2"/>
    <p:sldLayoutId id="2147484386" r:id="rId3"/>
    <p:sldLayoutId id="2147484387" r:id="rId4"/>
    <p:sldLayoutId id="2147484388" r:id="rId5"/>
    <p:sldLayoutId id="2147484389" r:id="rId6"/>
    <p:sldLayoutId id="2147484390" r:id="rId7"/>
    <p:sldLayoutId id="2147484391" r:id="rId8"/>
    <p:sldLayoutId id="2147484392" r:id="rId9"/>
    <p:sldLayoutId id="2147484393" r:id="rId10"/>
    <p:sldLayoutId id="2147484394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220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22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9223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332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42988" y="6184900"/>
            <a:ext cx="2895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7175" y="6183313"/>
            <a:ext cx="213360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814754E3-3DBA-4B0B-8C13-AB8E65E16D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5" r:id="rId1"/>
    <p:sldLayoutId id="2147484396" r:id="rId2"/>
    <p:sldLayoutId id="2147484397" r:id="rId3"/>
    <p:sldLayoutId id="2147484398" r:id="rId4"/>
    <p:sldLayoutId id="2147484399" r:id="rId5"/>
    <p:sldLayoutId id="2147484400" r:id="rId6"/>
    <p:sldLayoutId id="2147484401" r:id="rId7"/>
    <p:sldLayoutId id="2147484402" r:id="rId8"/>
    <p:sldLayoutId id="2147484403" r:id="rId9"/>
    <p:sldLayoutId id="2147484404" r:id="rId10"/>
    <p:sldLayoutId id="2147484405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0244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24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4344" name="日期占位符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5" name="页脚占位符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6" name="灯片编号占位符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F88EF7F4-2E08-4165-986D-5F04D21DCB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6" r:id="rId1"/>
    <p:sldLayoutId id="2147484407" r:id="rId2"/>
    <p:sldLayoutId id="2147484408" r:id="rId3"/>
    <p:sldLayoutId id="2147484409" r:id="rId4"/>
    <p:sldLayoutId id="2147484410" r:id="rId5"/>
    <p:sldLayoutId id="2147484411" r:id="rId6"/>
    <p:sldLayoutId id="2147484412" r:id="rId7"/>
    <p:sldLayoutId id="2147484413" r:id="rId8"/>
    <p:sldLayoutId id="2147484414" r:id="rId9"/>
    <p:sldLayoutId id="2147484415" r:id="rId10"/>
    <p:sldLayoutId id="2147484416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图片 2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138863"/>
            <a:ext cx="4572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矩形 1"/>
          <p:cNvSpPr>
            <a:spLocks noChangeArrowheads="1"/>
          </p:cNvSpPr>
          <p:nvPr/>
        </p:nvSpPr>
        <p:spPr bwMode="auto">
          <a:xfrm>
            <a:off x="0" y="0"/>
            <a:ext cx="9144000" cy="287338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1268" name="图片 3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0" y="6237288"/>
            <a:ext cx="1947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矩形 7"/>
          <p:cNvSpPr>
            <a:spLocks noChangeArrowheads="1"/>
          </p:cNvSpPr>
          <p:nvPr/>
        </p:nvSpPr>
        <p:spPr bwMode="auto">
          <a:xfrm>
            <a:off x="0" y="6570663"/>
            <a:ext cx="9144000" cy="287337"/>
          </a:xfrm>
          <a:prstGeom prst="rect">
            <a:avLst/>
          </a:prstGeom>
          <a:solidFill>
            <a:srgbClr val="A6012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27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404813"/>
            <a:ext cx="8229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127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5368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itchFamily="34" charset="0"/>
              <a:buNone/>
              <a:defRPr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9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itchFamily="34" charset="0"/>
              <a:buNone/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70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itchFamily="34" charset="0"/>
              <a:buNone/>
              <a:defRPr sz="1400"/>
            </a:lvl1pPr>
          </a:lstStyle>
          <a:p>
            <a:pPr>
              <a:defRPr/>
            </a:pPr>
            <a:fld id="{D8749BA0-F3CF-452F-BD09-1D2F14C8A7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 noChangeArrowheads="1"/>
          </p:cNvSpPr>
          <p:nvPr/>
        </p:nvSpPr>
        <p:spPr bwMode="auto">
          <a:xfrm>
            <a:off x="0" y="1517597"/>
            <a:ext cx="9144000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defTabSz="-63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b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7427168" cy="791939"/>
          </a:xfrm>
        </p:spPr>
        <p:txBody>
          <a:bodyPr/>
          <a:lstStyle/>
          <a:p>
            <a:pPr algn="l"/>
            <a:r>
              <a:rPr lang="zh-CN" altLang="en-US" sz="2800" dirty="0">
                <a:latin typeface="+mn-ea"/>
                <a:ea typeface="+mn-ea"/>
                <a:cs typeface="Times New Roman" panose="02020603050405020304" pitchFamily="18" charset="0"/>
              </a:rPr>
              <a:t>思维导图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69E3AB-AA5E-44DF-931F-FFA2B75DA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782"/>
            <a:ext cx="9144000" cy="4174435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2B13DA-546C-4DEC-812A-EDBB1749B5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zh-CN" altLang="en-US" sz="2800" dirty="0"/>
              <a:t>分位数的概念 </a:t>
            </a:r>
            <a:r>
              <a:rPr lang="en-US" altLang="zh-CN" sz="1800" dirty="0"/>
              <a:t>– </a:t>
            </a:r>
            <a:r>
              <a:rPr lang="zh-CN" altLang="en-US" sz="1800" dirty="0"/>
              <a:t>定义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q-quantile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 ≤ q ≤ 1) is an element of the sequence where a q fraction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elements from the sequence are less or equal to it, and the remaining (1 - q) are greater or equal. Moreover, if the sequence has n elements, we say that a q-quantile element is an element of the sequence those rank is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q·n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ε–approximate q-quantile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element with its rank in  </a:t>
            </a:r>
            <a:r>
              <a:rPr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[(q-ε)·n, (q+ε)·n]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n is the number of elements and 0 &lt; ε &lt; 1 is an error parameter. Note that more than one element could qualify.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FCD7ED-0322-4B11-B65E-BF36A2C9C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zh-CN" altLang="en-US" sz="2800" dirty="0"/>
              <a:t>分位数的概念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：有一元素序列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{1,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3,…,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100}. 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q=0.45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ε=0.01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n=100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q-quantile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45</a:t>
            </a:r>
          </a:p>
          <a:p>
            <a:pPr marL="0" indent="0">
              <a:buNone/>
            </a:pPr>
            <a:r>
              <a:rPr lang="el-GR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ε–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 q-quantile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44, 45, 46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FCD7ED-0322-4B11-B65E-BF36A2C9CE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7369645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zh-CN" altLang="en-US" sz="2800" dirty="0"/>
              <a:t>分位数相关的查询 </a:t>
            </a:r>
            <a:r>
              <a:rPr lang="en-US" altLang="zh-CN" sz="1800" dirty="0"/>
              <a:t>– </a:t>
            </a:r>
            <a:r>
              <a:rPr lang="zh-CN" altLang="en-US" sz="1800" dirty="0"/>
              <a:t>定义</a:t>
            </a:r>
            <a:r>
              <a:rPr lang="en-US" altLang="zh-CN" sz="1800" dirty="0"/>
              <a:t> &amp; </a:t>
            </a:r>
            <a:r>
              <a:rPr lang="zh-CN" altLang="en-US" sz="1800" dirty="0"/>
              <a:t>示例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84254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Quantile Query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：已知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q-quantile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：已知元素序列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q=0.5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0.5-quantile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rank(x)=0.5*100=50,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对应元素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50 . 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Quantile Query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：已知元素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q-quantile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：已知元素序列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求元素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rank(45)=45, q=rank(45)/n=45/100=0.45 .</a:t>
            </a:r>
          </a:p>
          <a:p>
            <a:pPr marL="0" indent="0">
              <a:buNone/>
            </a:pPr>
            <a:endParaRPr lang="en-US" altLang="zh-C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Query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：求范围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[a, b]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内的元素数量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：已知元素序列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[20,35]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内的元素数量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rank(20)=20, rank(35)=35, m </a:t>
            </a: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≈ 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rank(35)-rank(20)=15 .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应用场景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：欺诈检测、网站监控等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176008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zh-CN" altLang="en-US" sz="2800" dirty="0">
                <a:latin typeface="+mn-ea"/>
                <a:ea typeface="+mn-ea"/>
              </a:rPr>
              <a:t>近似分位数算法的引入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CN" sz="1600" dirty="0">
                    <a:highlight>
                      <a:srgbClr val="E4E684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Selection and sorting with limited storage, Theoretical Computer Science, Vol.12 (1980)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Ian Munro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Michael Paterson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在论文中证明了要在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趟遍历中精准地找到一个分位数，需要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f>
                              <m:fPr>
                                <m:type m:val="skw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的存储空间。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因此，只遍历一趟的算法不能保证在使用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次线性空间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找到分位数的精确值。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在原始数据流的近似上再做分位数的相关查询：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对原始数据流进行抽样。</a:t>
                </a:r>
                <a:r>
                  <a:rPr lang="en-US" altLang="zh-CN" sz="2000" dirty="0">
                    <a:highlight>
                      <a:srgbClr val="99ED81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对原始数据流进行压缩。</a:t>
                </a:r>
                <a:r>
                  <a:rPr lang="en-US" altLang="zh-CN" sz="2000" dirty="0">
                    <a:highlight>
                      <a:srgbClr val="99ED81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digest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525963"/>
              </a:xfrm>
              <a:blipFill>
                <a:blip r:embed="rId3"/>
                <a:stretch>
                  <a:fillRect l="-8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07489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Reservoir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算法背景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在大数据场景下抽样算法面临的问题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给定一个数据流，数据流长度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很大，且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直到处理完所有数据之前都不可知，请问如何在只遍历一遍数据的情况下，能够随机选取出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个不重复的数据。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三个重点</a:t>
                </a:r>
                <a:endParaRPr lang="en-US" altLang="zh-CN" sz="2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数据流长度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很大且不可知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时间复杂度为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3.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每个数被选中的概率均为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CN" altLang="en-US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525963"/>
              </a:xfrm>
              <a:blipFill>
                <a:blip r:embed="rId3"/>
                <a:stretch>
                  <a:fillRect l="-815" t="-1078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877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Reservoir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算法步骤</a:t>
                </a:r>
                <a:endParaRPr lang="en-US" altLang="zh-CN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建立一个长度为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的集合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将原数据的前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个元素放入集合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从第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(k+1)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个元素开始遍历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在遍历到第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个元素时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CN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的概率替换掉集合中的某个元素，集合中元素被替换的可能性相同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重复步骤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2 .</a:t>
                </a:r>
              </a:p>
              <a:p>
                <a:pPr marL="0" indent="0">
                  <a:buNone/>
                </a:pPr>
                <a:r>
                  <a:rPr lang="zh-CN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算法证明</a:t>
                </a:r>
                <a:endParaRPr lang="en-US" altLang="zh-CN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用数学归纳法证明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每个元素被选取的概率都为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CN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n=k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每个元素都被选取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概率为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zh-CN" alt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显然成立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若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n=m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成立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n=m+1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当前元素被选中的概率为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已经在集合内的元素不被替换的概率为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f>
                      <m:fPr>
                        <m:ctrlPr>
                          <a:rPr lang="en-US" altLang="zh-C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den>
                    </m:f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综合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&amp; 2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得证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  <a:blipFill>
                <a:blip r:embed="rId3"/>
                <a:stretch>
                  <a:fillRect l="-815" t="-1026" b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4" name="泪滴形 3">
            <a:extLst>
              <a:ext uri="{FF2B5EF4-FFF2-40B4-BE49-F238E27FC236}">
                <a16:creationId xmlns:a16="http://schemas.microsoft.com/office/drawing/2014/main" id="{B3B8F96D-1E5B-4E64-B187-3BF05FA93025}"/>
              </a:ext>
            </a:extLst>
          </p:cNvPr>
          <p:cNvSpPr/>
          <p:nvPr/>
        </p:nvSpPr>
        <p:spPr bwMode="auto">
          <a:xfrm>
            <a:off x="6660232" y="2636912"/>
            <a:ext cx="1735279" cy="926864"/>
          </a:xfrm>
          <a:prstGeom prst="teardrop">
            <a:avLst>
              <a:gd name="adj" fmla="val 131431"/>
            </a:avLst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从</a:t>
            </a:r>
            <a:r>
              <a:rPr lang="en-US" altLang="zh-CN" dirty="0"/>
              <a:t>1…i</a:t>
            </a:r>
            <a:r>
              <a:rPr lang="zh-CN" altLang="en-US" dirty="0"/>
              <a:t>中产生一个随机数</a:t>
            </a:r>
          </a:p>
        </p:txBody>
      </p:sp>
    </p:spTree>
    <p:extLst>
      <p:ext uri="{BB962C8B-B14F-4D97-AF65-F5344CB8AC3E}">
        <p14:creationId xmlns:p14="http://schemas.microsoft.com/office/powerpoint/2010/main" val="15139787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抽象过程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140BF8F-07E9-44ED-B062-C5DC88B2F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204"/>
            <a:ext cx="9144000" cy="644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5881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算法概述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EA2B3E-AA15-4455-81D7-3109D8342F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518"/>
            <a:ext cx="9144000" cy="376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57274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输入：一个空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；采样率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输出：填充后的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从每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个元素组成的块中随机选一个元素填入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在连续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个块上重复此操作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即从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k·r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个元素中选了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备注：填充后要标记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, 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越大样本越稀疏。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254971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Collapse 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c(c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X1,X2,…,Xc 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输出：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Y</a:t>
            </a: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过程：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X1,…,Xc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中所有的元素排序得到一个有序序列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以一定规则选取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个元素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填充到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,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更新层级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</a:t>
            </a:r>
          </a:p>
          <a:p>
            <a:pPr marL="0" indent="0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从输入中选取一个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作为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,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其余置空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7036A31-86FC-454E-A935-ACA6F8B6CA0E}"/>
              </a:ext>
            </a:extLst>
          </p:cNvPr>
          <p:cNvSpPr/>
          <p:nvPr/>
        </p:nvSpPr>
        <p:spPr bwMode="auto">
          <a:xfrm>
            <a:off x="5292080" y="1772816"/>
            <a:ext cx="2952328" cy="1152128"/>
          </a:xfrm>
          <a:prstGeom prst="round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Output </a:t>
            </a:r>
            <a:r>
              <a:rPr lang="zh-CN" altLang="en-US" dirty="0"/>
              <a:t>操作类似</a:t>
            </a:r>
            <a:r>
              <a:rPr lang="en-US" altLang="zh-CN" dirty="0"/>
              <a:t>, </a:t>
            </a:r>
            <a:r>
              <a:rPr lang="zh-CN" altLang="en-US" dirty="0"/>
              <a:t>返回最终的 </a:t>
            </a:r>
            <a:r>
              <a:rPr lang="en-US" altLang="zh-CN" dirty="0"/>
              <a:t>Buffers 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4952057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 Sampling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  </a:t>
            </a:r>
            <a:endParaRPr lang="zh-CN" alt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Sampling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及其衍生算法的区别体现在 </a:t>
                </a:r>
                <a:r>
                  <a:rPr lang="en-US" altLang="zh-C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Collapse </a:t>
                </a:r>
                <a:r>
                  <a:rPr lang="zh-CN" altLang="en-US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规则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以衍生的 </a:t>
                </a:r>
                <a:r>
                  <a:rPr lang="en-US" altLang="zh-CN" sz="20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</a:t>
                </a:r>
                <a:r>
                  <a:rPr lang="zh-CN" altLang="en-US" sz="2000" dirty="0">
                    <a:highlight>
                      <a:srgbClr val="C0C0C0"/>
                    </a:highligh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为例：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每次选取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个最低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level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Buffer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做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Collapse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操作。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2.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0, </m:t>
                            </m:r>
                            <m:d>
                              <m:dPr>
                                <m:begChr m:val="⌈"/>
                                <m:endChr m:val="⌉"/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unc>
                                  <m:func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000" b="0" i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 </m:t>
                                        </m:r>
                                      </m:sub>
                                    </m:sSub>
                                  </m:fName>
                                  <m:e>
                                    <m:f>
                                      <m:fPr>
                                        <m:ctrlP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∙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en-US" altLang="zh-CN" sz="20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−1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func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3.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随机选取两个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Buffer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中一半的元素作为输出。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  <a:blipFill>
                <a:blip r:embed="rId3"/>
                <a:stretch>
                  <a:fillRect l="-815" t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11C350D-562A-4EB1-B586-1225946700F0}"/>
              </a:ext>
            </a:extLst>
          </p:cNvPr>
          <p:cNvSpPr/>
          <p:nvPr/>
        </p:nvSpPr>
        <p:spPr bwMode="auto">
          <a:xfrm>
            <a:off x="426089" y="2492896"/>
            <a:ext cx="2519511" cy="360040"/>
          </a:xfrm>
          <a:prstGeom prst="round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输入 </a:t>
            </a:r>
            <a:r>
              <a:rPr lang="en-US" altLang="zh-CN" dirty="0">
                <a:solidFill>
                  <a:srgbClr val="7030A0"/>
                </a:solidFill>
              </a:rPr>
              <a:t>Buffer </a:t>
            </a:r>
            <a:r>
              <a:rPr lang="zh-CN" altLang="en-US" dirty="0">
                <a:solidFill>
                  <a:srgbClr val="7030A0"/>
                </a:solidFill>
              </a:rPr>
              <a:t>的个数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23AAAF9-0182-429E-8EFD-3FA4D0FA1805}"/>
              </a:ext>
            </a:extLst>
          </p:cNvPr>
          <p:cNvSpPr/>
          <p:nvPr/>
        </p:nvSpPr>
        <p:spPr bwMode="auto">
          <a:xfrm>
            <a:off x="426087" y="3248980"/>
            <a:ext cx="2519511" cy="360040"/>
          </a:xfrm>
          <a:prstGeom prst="round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层级 </a:t>
            </a:r>
            <a:r>
              <a:rPr lang="en-US" altLang="zh-CN" dirty="0">
                <a:solidFill>
                  <a:srgbClr val="7030A0"/>
                </a:solidFill>
              </a:rPr>
              <a:t>level </a:t>
            </a:r>
            <a:r>
              <a:rPr lang="zh-CN" altLang="en-US" dirty="0">
                <a:solidFill>
                  <a:srgbClr val="7030A0"/>
                </a:solidFill>
              </a:rPr>
              <a:t>计算规则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CFA8A01-5F7B-4824-9508-496B07308384}"/>
              </a:ext>
            </a:extLst>
          </p:cNvPr>
          <p:cNvSpPr/>
          <p:nvPr/>
        </p:nvSpPr>
        <p:spPr bwMode="auto">
          <a:xfrm>
            <a:off x="426087" y="4113076"/>
            <a:ext cx="2519511" cy="360040"/>
          </a:xfrm>
          <a:prstGeom prst="round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产生输出元素的规则</a:t>
            </a:r>
          </a:p>
        </p:txBody>
      </p:sp>
    </p:spTree>
    <p:extLst>
      <p:ext uri="{BB962C8B-B14F-4D97-AF65-F5344CB8AC3E}">
        <p14:creationId xmlns:p14="http://schemas.microsoft.com/office/powerpoint/2010/main" val="99589445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63E4B4-7AAC-419C-9962-35D27B8EC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107980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1667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0 0 3 4 1 6 0 5 2 0 3 3 2 3 0 2 5 0 3 1 0 3 1 6 1</a:t>
                      </a:r>
                      <a:endParaRPr lang="zh-CN" altLang="en-US" b="0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96607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1EE3B53-C9E4-4664-97A9-B37E3FB6F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497981"/>
              </p:ext>
            </p:extLst>
          </p:nvPr>
        </p:nvGraphicFramePr>
        <p:xfrm>
          <a:off x="1524000" y="2060848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1A5F090-0EA4-4F05-84B4-436D70FF4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446140"/>
              </p:ext>
            </p:extLst>
          </p:nvPr>
        </p:nvGraphicFramePr>
        <p:xfrm>
          <a:off x="1524000" y="3095536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47DE8EC-EC95-474C-81A3-595C71335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036474"/>
              </p:ext>
            </p:extLst>
          </p:nvPr>
        </p:nvGraphicFramePr>
        <p:xfrm>
          <a:off x="1492889" y="4813420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96CB53C-242A-4AE3-BCBC-AF8FFF17DACF}"/>
              </a:ext>
            </a:extLst>
          </p:cNvPr>
          <p:cNvSpPr txBox="1"/>
          <p:nvPr/>
        </p:nvSpPr>
        <p:spPr>
          <a:xfrm>
            <a:off x="1524000" y="4077072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随机选取</a:t>
            </a:r>
            <a:r>
              <a:rPr lang="en-US" altLang="zh-CN" dirty="0"/>
              <a:t>B2</a:t>
            </a:r>
            <a:r>
              <a:rPr lang="zh-CN" altLang="en-US" dirty="0"/>
              <a:t>和</a:t>
            </a:r>
            <a:r>
              <a:rPr lang="en-US" altLang="zh-CN" dirty="0"/>
              <a:t>B3</a:t>
            </a:r>
            <a:r>
              <a:rPr lang="zh-CN" altLang="en-US" dirty="0"/>
              <a:t>做</a:t>
            </a:r>
            <a:r>
              <a:rPr lang="en-US" altLang="zh-CN" dirty="0"/>
              <a:t>Collapse,</a:t>
            </a:r>
            <a:r>
              <a:rPr lang="zh-CN" altLang="en-US" dirty="0"/>
              <a:t> </a:t>
            </a:r>
            <a:r>
              <a:rPr lang="en-US" altLang="zh-CN" dirty="0"/>
              <a:t>{ 0, 0, 1, 2, 3, 3, 5, 6 }, </a:t>
            </a:r>
            <a:r>
              <a:rPr lang="zh-CN" altLang="en-US" dirty="0"/>
              <a:t>选取奇数位置的填充到</a:t>
            </a:r>
            <a:r>
              <a:rPr lang="en-US" altLang="zh-CN" dirty="0"/>
              <a:t>B3</a:t>
            </a:r>
            <a:r>
              <a:rPr lang="zh-CN" altLang="en-US" dirty="0"/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52D775-0A67-476A-AEF9-5AB7C3C01E97}"/>
              </a:ext>
            </a:extLst>
          </p:cNvPr>
          <p:cNvSpPr/>
          <p:nvPr/>
        </p:nvSpPr>
        <p:spPr bwMode="auto">
          <a:xfrm>
            <a:off x="3707904" y="326238"/>
            <a:ext cx="2592288" cy="1023888"/>
          </a:xfrm>
          <a:prstGeom prst="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k=4  </a:t>
            </a:r>
            <a:r>
              <a:rPr lang="zh-CN" altLang="en-US" dirty="0"/>
              <a:t>每个 </a:t>
            </a:r>
            <a:r>
              <a:rPr lang="en-US" altLang="zh-CN" dirty="0"/>
              <a:t>Buffer </a:t>
            </a:r>
            <a:r>
              <a:rPr lang="zh-CN" altLang="en-US" dirty="0"/>
              <a:t>的容量</a:t>
            </a:r>
            <a:endParaRPr lang="en-US" altLang="zh-CN" dirty="0"/>
          </a:p>
          <a:p>
            <a:r>
              <a:rPr lang="en-US" altLang="zh-CN" dirty="0"/>
              <a:t>h=3  </a:t>
            </a:r>
            <a:r>
              <a:rPr lang="zh-CN" altLang="en-US" dirty="0"/>
              <a:t>最大层级    </a:t>
            </a:r>
            <a:endParaRPr lang="en-US" altLang="zh-CN" dirty="0"/>
          </a:p>
          <a:p>
            <a:r>
              <a:rPr lang="en-US" altLang="zh-CN" dirty="0"/>
              <a:t>b=4  Buffer </a:t>
            </a:r>
            <a:r>
              <a:rPr lang="zh-CN" altLang="en-US" dirty="0"/>
              <a:t>的数量</a:t>
            </a:r>
          </a:p>
        </p:txBody>
      </p:sp>
    </p:spTree>
    <p:extLst>
      <p:ext uri="{BB962C8B-B14F-4D97-AF65-F5344CB8AC3E}">
        <p14:creationId xmlns:p14="http://schemas.microsoft.com/office/powerpoint/2010/main" val="398220387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63E4B4-7AAC-419C-9962-35D27B8EC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89959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1667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</a:t>
                      </a:r>
                      <a:r>
                        <a:rPr lang="en-US" altLang="zh-CN" b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5 0 3 1</a:t>
                      </a:r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0 3 1 6 1</a:t>
                      </a:r>
                      <a:endParaRPr lang="zh-CN" altLang="en-US" b="0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966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47DE8EC-EC95-474C-81A3-595C71335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640255"/>
              </p:ext>
            </p:extLst>
          </p:nvPr>
        </p:nvGraphicFramePr>
        <p:xfrm>
          <a:off x="1492889" y="3826406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496CB53C-242A-4AE3-BCBC-AF8FFF17DACF}"/>
              </a:ext>
            </a:extLst>
          </p:cNvPr>
          <p:cNvSpPr txBox="1"/>
          <p:nvPr/>
        </p:nvSpPr>
        <p:spPr>
          <a:xfrm>
            <a:off x="1524000" y="2991301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随机选取</a:t>
            </a:r>
            <a:r>
              <a:rPr lang="en-US" altLang="zh-CN" dirty="0"/>
              <a:t>B1</a:t>
            </a:r>
            <a:r>
              <a:rPr lang="zh-CN" altLang="en-US" dirty="0"/>
              <a:t>和</a:t>
            </a:r>
            <a:r>
              <a:rPr lang="en-US" altLang="zh-CN" dirty="0"/>
              <a:t>B4</a:t>
            </a:r>
            <a:r>
              <a:rPr lang="zh-CN" altLang="en-US" dirty="0"/>
              <a:t>做</a:t>
            </a:r>
            <a:r>
              <a:rPr lang="en-US" altLang="zh-CN" dirty="0"/>
              <a:t>Collapse,</a:t>
            </a:r>
            <a:r>
              <a:rPr lang="zh-CN" altLang="en-US" dirty="0"/>
              <a:t> </a:t>
            </a:r>
            <a:r>
              <a:rPr lang="en-US" altLang="zh-CN" dirty="0"/>
              <a:t>{ 0, 0, 0, 2, 2, 3, 3, 4 }, </a:t>
            </a:r>
            <a:r>
              <a:rPr lang="zh-CN" altLang="en-US" dirty="0"/>
              <a:t>选取偶数位置的填充到</a:t>
            </a:r>
            <a:r>
              <a:rPr lang="en-US" altLang="zh-CN" dirty="0"/>
              <a:t>B4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2E34A28-809D-494C-9C03-BD7E3F609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53871"/>
              </p:ext>
            </p:extLst>
          </p:nvPr>
        </p:nvGraphicFramePr>
        <p:xfrm>
          <a:off x="1524000" y="2060848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68093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63E4B4-7AAC-419C-9962-35D27B8EC3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465519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1667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 </a:t>
                      </a:r>
                      <a:r>
                        <a:rPr lang="en-US" altLang="zh-CN" b="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0 3 1 6 1</a:t>
                      </a:r>
                      <a:endParaRPr lang="zh-CN" altLang="en-US" b="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966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47DE8EC-EC95-474C-81A3-595C71335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20197"/>
              </p:ext>
            </p:extLst>
          </p:nvPr>
        </p:nvGraphicFramePr>
        <p:xfrm>
          <a:off x="1524000" y="4220713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6CB53C-242A-4AE3-BCBC-AF8FFF17DACF}"/>
                  </a:ext>
                </a:extLst>
              </p:cNvPr>
              <p:cNvSpPr txBox="1"/>
              <p:nvPr/>
            </p:nvSpPr>
            <p:spPr>
              <a:xfrm>
                <a:off x="1524000" y="3034762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此时还剩 </a:t>
                </a:r>
                <a:r>
                  <a:rPr lang="en-US" altLang="zh-CN" dirty="0"/>
                  <a:t>{ 0, 3, 1, 6, 1 }, </a:t>
                </a:r>
                <a:r>
                  <a:rPr lang="zh-CN" altLang="en-US" dirty="0"/>
                  <a:t>已经处理了 </a:t>
                </a:r>
                <a:r>
                  <a:rPr lang="en-US" altLang="zh-CN" dirty="0"/>
                  <a:t>n=20, L(20)=1, </a:t>
                </a:r>
                <a:r>
                  <a:rPr lang="zh-CN" altLang="en-US" dirty="0"/>
                  <a:t>要从 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dirty="0"/>
                  <a:t>个元素中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每 </a:t>
                </a:r>
                <a:r>
                  <a:rPr lang="en-US" altLang="zh-CN" dirty="0"/>
                  <a:t>2 </a:t>
                </a:r>
                <a:r>
                  <a:rPr lang="zh-CN" altLang="en-US" dirty="0"/>
                  <a:t>个选取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个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共 </a:t>
                </a:r>
                <a:r>
                  <a:rPr lang="en-US" altLang="zh-CN" dirty="0"/>
                  <a:t>k </a:t>
                </a:r>
                <a:r>
                  <a:rPr lang="zh-CN" altLang="en-US" dirty="0"/>
                  <a:t>个元素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由于剩下元素有限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随机选取出 </a:t>
                </a:r>
                <a:r>
                  <a:rPr lang="en-US" altLang="zh-CN" dirty="0"/>
                  <a:t>{ 3, 1, 1 }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96CB53C-242A-4AE3-BCBC-AF8FFF17DA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034762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800" t="-5298" r="-400" b="-105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F23005D-3199-4705-8B8C-14C29793C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32096"/>
              </p:ext>
            </p:extLst>
          </p:nvPr>
        </p:nvGraphicFramePr>
        <p:xfrm>
          <a:off x="1524000" y="2030461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60486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63E4B4-7AAC-419C-9962-35D27B8EC38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1667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0 0 3 4 1 6 0 5 2 0 3 3 2 3 0 2 5 0 3 1 0 3 1 6 1</a:t>
                      </a:r>
                      <a:endParaRPr lang="zh-CN" altLang="en-US" b="0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966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47DE8EC-EC95-474C-81A3-595C71335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09877"/>
              </p:ext>
            </p:extLst>
          </p:nvPr>
        </p:nvGraphicFramePr>
        <p:xfrm>
          <a:off x="1524000" y="2030461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5B3C61-0661-40A8-98FD-26E77E4380D1}"/>
                  </a:ext>
                </a:extLst>
              </p:cNvPr>
              <p:cNvSpPr txBox="1"/>
              <p:nvPr/>
            </p:nvSpPr>
            <p:spPr>
              <a:xfrm>
                <a:off x="509078" y="3356992"/>
                <a:ext cx="8167378" cy="1707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Inverse Quantile Query</a:t>
                </a:r>
              </a:p>
              <a:p>
                <a:r>
                  <a:rPr lang="zh-CN" altLang="en-US" dirty="0"/>
                  <a:t>查找元素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的排位：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Sup>
                                    <m:sSubSupPr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∙3+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∙3+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∙3+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∙3=21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5B3C61-0661-40A8-98FD-26E77E438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78" y="3356992"/>
                <a:ext cx="8167378" cy="1707903"/>
              </a:xfrm>
              <a:prstGeom prst="rect">
                <a:avLst/>
              </a:prstGeom>
              <a:blipFill>
                <a:blip r:embed="rId3"/>
                <a:stretch>
                  <a:fillRect l="-747" t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57402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Random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63E4B4-7AAC-419C-9962-35D27B8EC386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3166727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accent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0 0 3 4 1 6 0 5 2 0 3 3 2 3 0 2 5 0 3 1 0 3 1 6 1</a:t>
                      </a:r>
                      <a:endParaRPr lang="zh-CN" altLang="en-US" b="0" dirty="0">
                        <a:solidFill>
                          <a:schemeClr val="accent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996607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47DE8EC-EC95-474C-81A3-595C713358E8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030461"/>
          <a:ext cx="6096000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384916569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9135609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20571371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4920665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5381879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707617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7383835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156731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31589524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617441729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3837316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0054457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6718908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06785975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0488178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16337670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B2(0)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B4</a:t>
                      </a:r>
                      <a:r>
                        <a:rPr lang="en-US" altLang="zh-CN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endParaRPr lang="zh-CN" altLang="en-US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99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0144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5B3C61-0661-40A8-98FD-26E77E4380D1}"/>
                  </a:ext>
                </a:extLst>
              </p:cNvPr>
              <p:cNvSpPr txBox="1"/>
              <p:nvPr/>
            </p:nvSpPr>
            <p:spPr>
              <a:xfrm>
                <a:off x="509078" y="3356992"/>
                <a:ext cx="816737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Quantile Query</a:t>
                </a:r>
              </a:p>
              <a:p>
                <a:r>
                  <a:rPr lang="zh-CN" altLang="en-US" dirty="0"/>
                  <a:t>估计</a:t>
                </a:r>
                <a:r>
                  <a:rPr lang="en-US" altLang="zh-CN" dirty="0"/>
                  <a:t>q=0.65</a:t>
                </a:r>
                <a:r>
                  <a:rPr lang="zh-CN" altLang="en-US" dirty="0"/>
                  <a:t>的元素：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3</a:t>
                </a:r>
              </a:p>
              <a:p>
                <a:r>
                  <a:rPr lang="en-US" altLang="zh-CN" dirty="0"/>
                  <a:t>       1.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.65=16.25</a:t>
                </a:r>
              </a:p>
              <a:p>
                <a:r>
                  <a:rPr lang="en-US" altLang="zh-CN" dirty="0"/>
                  <a:t>       2. </a:t>
                </a:r>
                <a:r>
                  <a:rPr lang="zh-CN" altLang="en-US" dirty="0"/>
                  <a:t>元素取值集合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0, 1, 2, 3, 4, 5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3.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65B3C61-0661-40A8-98FD-26E77E438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78" y="3356992"/>
                <a:ext cx="8167378" cy="2862322"/>
              </a:xfrm>
              <a:prstGeom prst="rect">
                <a:avLst/>
              </a:prstGeom>
              <a:blipFill>
                <a:blip r:embed="rId3"/>
                <a:stretch>
                  <a:fillRect l="-747" t="-1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63642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主要思想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D8F9B48-34E2-4265-9211-10DE36D73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1609725"/>
            <a:ext cx="6877050" cy="3638550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91E64BA-49A2-4C5A-8DF1-C39D7F18C486}"/>
              </a:ext>
            </a:extLst>
          </p:cNvPr>
          <p:cNvSpPr/>
          <p:nvPr/>
        </p:nvSpPr>
        <p:spPr bwMode="auto">
          <a:xfrm>
            <a:off x="3635897" y="350837"/>
            <a:ext cx="4861688" cy="989931"/>
          </a:xfrm>
          <a:prstGeom prst="roundRect">
            <a:avLst/>
          </a:prstGeom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        将输入的值空间构造成完全二叉树，再以一定规则进行压缩，保存部分</a:t>
            </a:r>
            <a:r>
              <a:rPr lang="en-US" altLang="zh-CN" dirty="0"/>
              <a:t>(</a:t>
            </a:r>
            <a:r>
              <a:rPr lang="zh-CN" altLang="en-US" dirty="0"/>
              <a:t>内</a:t>
            </a:r>
            <a:r>
              <a:rPr lang="en-US" altLang="zh-CN" dirty="0"/>
              <a:t>/</a:t>
            </a:r>
            <a:r>
              <a:rPr lang="zh-CN" altLang="en-US" dirty="0"/>
              <a:t>叶</a:t>
            </a:r>
            <a:r>
              <a:rPr lang="en-US" altLang="zh-CN" dirty="0"/>
              <a:t>)</a:t>
            </a:r>
            <a:r>
              <a:rPr lang="zh-CN" altLang="en-US" dirty="0"/>
              <a:t>节点。</a:t>
            </a:r>
          </a:p>
        </p:txBody>
      </p:sp>
    </p:spTree>
    <p:extLst>
      <p:ext uri="{BB962C8B-B14F-4D97-AF65-F5344CB8AC3E}">
        <p14:creationId xmlns:p14="http://schemas.microsoft.com/office/powerpoint/2010/main" val="399873845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算法概述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E0FD61-7B2B-45ED-818B-4CC6501BA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5486"/>
            <a:ext cx="9144000" cy="37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9033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值空间划分示例</a:t>
            </a:r>
            <a:r>
              <a:rPr lang="en-US" altLang="zh-CN" sz="1800" dirty="0"/>
              <a:t>  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27A0012-C643-41D2-BAC1-7DC49BDFC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124335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495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</a:t>
                      </a:r>
                      <a:endParaRPr lang="zh-CN" altLang="en-US" dirty="0">
                        <a:solidFill>
                          <a:schemeClr val="accent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09470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E50A3E08-371C-4F6C-8A14-12041ABC9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1910595"/>
            <a:ext cx="6877050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6404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1 </a:t>
            </a:r>
            <a:endParaRPr lang="zh-CN" alt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Compress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操作</a:t>
                </a:r>
                <a:endParaRPr lang="en-US" altLang="zh-CN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的大小由压缩参数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决定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Q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中的节点</a:t>
                </a:r>
                <a:r>
                  <a:rPr lang="zh-CN" altLang="en-US" sz="20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符合以下规则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除叶节点外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除根节点外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𝑐𝑜𝑢𝑛𝑡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zh-CN" alt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𝜎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父节点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的兄弟节点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算法：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func>
                      <m:func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func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- 1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𝑤h𝑖𝑙𝑒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对所有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深度的节点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如果违反属性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则合并到父节点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执行完后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减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1 .</a:t>
                </a:r>
              </a:p>
              <a:p>
                <a:pPr marL="0" indent="0">
                  <a:buNone/>
                </a:pP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  <a:blipFill>
                <a:blip r:embed="rId3"/>
                <a:stretch>
                  <a:fillRect l="-815" t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004124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压缩示例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480205-BE0D-471A-96E2-B6D65232F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070" y="2988914"/>
            <a:ext cx="3600000" cy="195186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D30AB97-C9E8-4345-82B1-ABF7D62CF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689" y="3034049"/>
            <a:ext cx="3600000" cy="1904709"/>
          </a:xfrm>
          <a:prstGeom prst="rect">
            <a:avLst/>
          </a:prstGeom>
        </p:spPr>
      </p:pic>
      <p:graphicFrame>
        <p:nvGraphicFramePr>
          <p:cNvPr id="11" name="表格 4">
            <a:extLst>
              <a:ext uri="{FF2B5EF4-FFF2-40B4-BE49-F238E27FC236}">
                <a16:creationId xmlns:a16="http://schemas.microsoft.com/office/drawing/2014/main" id="{55022671-D787-4CE2-9DB7-4592A4159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052516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4249558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accent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0 0 3 4 1 6 0 5 2 0 3 3 2 3 0 2 5 0 3 1</a:t>
                      </a:r>
                      <a:endParaRPr lang="zh-CN" altLang="en-US" dirty="0">
                        <a:solidFill>
                          <a:schemeClr val="accent6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5094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1883ED4-2147-4DA4-9176-78D1FEFEEC6D}"/>
                  </a:ext>
                </a:extLst>
              </p:cNvPr>
              <p:cNvSpPr/>
              <p:nvPr/>
            </p:nvSpPr>
            <p:spPr bwMode="auto">
              <a:xfrm>
                <a:off x="3527884" y="2093790"/>
                <a:ext cx="2088232" cy="792088"/>
              </a:xfrm>
              <a:prstGeom prst="rect">
                <a:avLst/>
              </a:prstGeom>
              <a:ln>
                <a:headEnd type="none" w="med" len="med"/>
                <a:tailEnd type="triangle"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取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1883ED4-2147-4DA4-9176-78D1FEFEEC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7884" y="2093790"/>
                <a:ext cx="2088232" cy="7920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headEnd type="none" w="med" len="med"/>
                <a:tailEnd type="triangle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131241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压缩示例</a:t>
            </a:r>
            <a:r>
              <a:rPr lang="en-US" altLang="zh-CN" sz="1800" dirty="0"/>
              <a:t>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C80674-5703-49AF-A6A7-91A4E731A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89" y="1268760"/>
            <a:ext cx="3600000" cy="19047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0ADC21-0B91-40D9-AB44-AE2128464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610" y="1250751"/>
            <a:ext cx="3600000" cy="19047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02E585-903C-4D61-8029-1232E37D1E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89" y="3684532"/>
            <a:ext cx="3600000" cy="195955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11CDC3-9EB1-47F2-AA50-FA57589B20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361" y="3702541"/>
            <a:ext cx="3600000" cy="190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38498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A6FB076-5BB6-473F-AE49-68E5EC953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05" y="3140968"/>
            <a:ext cx="4119884" cy="2179772"/>
          </a:xfrm>
          <a:prstGeom prst="rect">
            <a:avLst/>
          </a:prstGeom>
        </p:spPr>
      </p:pic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2 </a:t>
            </a:r>
            <a:endParaRPr lang="zh-CN" alt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anose="020B0604020202020204" pitchFamily="34" charset="0"/>
                    <a:ea typeface="宋体" panose="02010600030101010101" pitchFamily="2" charset="-122"/>
                  </a:rPr>
                  <a:t>Quantile Query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1.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索引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Buffer :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从上到下、从左到右从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开始标记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2.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将树中所有计数不为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Buffer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后序遍历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组成有序序列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3.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累加计数器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当计数超过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返回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𝑚𝑎𝑥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 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&lt;</a:t>
                </a:r>
                <a:r>
                  <a:rPr lang="zh-CN" altLang="en-US" sz="20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索引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计数器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        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16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&lt;</a:t>
                </a:r>
                <a:r>
                  <a:rPr lang="en-US" altLang="zh-CN" sz="16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&lt;</a:t>
                </a:r>
                <a:r>
                  <a:rPr lang="en-US" altLang="zh-CN" sz="16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&lt;</a:t>
                </a:r>
                <a:r>
                  <a:rPr lang="en-US" altLang="zh-CN" sz="16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&lt;</a:t>
                </a:r>
                <a:r>
                  <a:rPr lang="en-US" altLang="zh-CN" sz="16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16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       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查找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的元素：</a:t>
                </a:r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落在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</a:t>
                </a:r>
                <a:r>
                  <a:rPr lang="en-US" altLang="zh-CN" sz="2000" dirty="0">
                    <a:solidFill>
                      <a:schemeClr val="accent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11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返回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3 .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</a:t>
                </a:r>
              </a:p>
              <a:p>
                <a:pPr marL="0" indent="0"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			</a:t>
                </a:r>
              </a:p>
            </p:txBody>
          </p:sp>
        </mc:Choice>
        <mc:Fallback xmlns=""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6089" y="1340768"/>
                <a:ext cx="8229600" cy="4752528"/>
              </a:xfrm>
              <a:blipFill>
                <a:blip r:embed="rId4"/>
                <a:stretch>
                  <a:fillRect l="-1185" t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7F72A4C-3676-4090-A7BD-D9AE862AB250}"/>
              </a:ext>
            </a:extLst>
          </p:cNvPr>
          <p:cNvSpPr/>
          <p:nvPr/>
        </p:nvSpPr>
        <p:spPr bwMode="auto">
          <a:xfrm>
            <a:off x="1979712" y="2996952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7486B-D965-438F-B86B-FEC46B79CEA7}"/>
              </a:ext>
            </a:extLst>
          </p:cNvPr>
          <p:cNvSpPr/>
          <p:nvPr/>
        </p:nvSpPr>
        <p:spPr bwMode="auto">
          <a:xfrm>
            <a:off x="827584" y="3573016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9A131A5-DD8A-403C-85F9-0AA2D5B2371C}"/>
              </a:ext>
            </a:extLst>
          </p:cNvPr>
          <p:cNvSpPr/>
          <p:nvPr/>
        </p:nvSpPr>
        <p:spPr bwMode="auto">
          <a:xfrm>
            <a:off x="3131840" y="3573016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AED8985-97D6-43DE-91D9-F5A77A841531}"/>
              </a:ext>
            </a:extLst>
          </p:cNvPr>
          <p:cNvSpPr/>
          <p:nvPr/>
        </p:nvSpPr>
        <p:spPr bwMode="auto">
          <a:xfrm>
            <a:off x="405977" y="4230854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54433C6-3627-4D7F-8966-186F4851EBFD}"/>
              </a:ext>
            </a:extLst>
          </p:cNvPr>
          <p:cNvSpPr/>
          <p:nvPr/>
        </p:nvSpPr>
        <p:spPr bwMode="auto">
          <a:xfrm>
            <a:off x="1331640" y="4230854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11429F6-27BA-45E3-BA60-A73C94E1EAAE}"/>
              </a:ext>
            </a:extLst>
          </p:cNvPr>
          <p:cNvSpPr/>
          <p:nvPr/>
        </p:nvSpPr>
        <p:spPr bwMode="auto">
          <a:xfrm>
            <a:off x="2683788" y="4230854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594178A-D0E9-4BAC-8D1B-F3328CD81970}"/>
              </a:ext>
            </a:extLst>
          </p:cNvPr>
          <p:cNvSpPr/>
          <p:nvPr/>
        </p:nvSpPr>
        <p:spPr bwMode="auto">
          <a:xfrm>
            <a:off x="3612338" y="4230854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4B55B7FA-52FD-4880-B473-895E31189BA5}"/>
              </a:ext>
            </a:extLst>
          </p:cNvPr>
          <p:cNvSpPr/>
          <p:nvPr/>
        </p:nvSpPr>
        <p:spPr bwMode="auto">
          <a:xfrm>
            <a:off x="457200" y="5373216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4E43751-95D5-4AA6-8A33-873AEDBA05AF}"/>
              </a:ext>
            </a:extLst>
          </p:cNvPr>
          <p:cNvSpPr/>
          <p:nvPr/>
        </p:nvSpPr>
        <p:spPr bwMode="auto">
          <a:xfrm>
            <a:off x="899592" y="5371843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D30DF85-7D40-4010-A2D6-CC4F69115953}"/>
              </a:ext>
            </a:extLst>
          </p:cNvPr>
          <p:cNvSpPr/>
          <p:nvPr/>
        </p:nvSpPr>
        <p:spPr bwMode="auto">
          <a:xfrm>
            <a:off x="1341984" y="5379204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10</a:t>
            </a:r>
            <a:endParaRPr lang="zh-CN" altLang="en-US" sz="8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5434259-3829-47E2-9A52-77E10FC82CB8}"/>
              </a:ext>
            </a:extLst>
          </p:cNvPr>
          <p:cNvSpPr/>
          <p:nvPr/>
        </p:nvSpPr>
        <p:spPr bwMode="auto">
          <a:xfrm>
            <a:off x="1815487" y="5371843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11</a:t>
            </a:r>
            <a:endParaRPr lang="zh-CN" altLang="en-US" sz="8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CE671E3-6801-4EA5-BA3A-0C842DBCB9E5}"/>
              </a:ext>
            </a:extLst>
          </p:cNvPr>
          <p:cNvSpPr/>
          <p:nvPr/>
        </p:nvSpPr>
        <p:spPr bwMode="auto">
          <a:xfrm>
            <a:off x="2827804" y="5392748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12</a:t>
            </a:r>
            <a:endParaRPr lang="zh-CN" altLang="en-US" sz="8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1E2F474-A9CC-4396-9D45-D0C1084EC429}"/>
              </a:ext>
            </a:extLst>
          </p:cNvPr>
          <p:cNvSpPr/>
          <p:nvPr/>
        </p:nvSpPr>
        <p:spPr bwMode="auto">
          <a:xfrm>
            <a:off x="3301307" y="5394181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13</a:t>
            </a:r>
            <a:endParaRPr lang="zh-CN" altLang="en-US" sz="8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52F3192-1E41-4233-9B8B-F03997AAC955}"/>
              </a:ext>
            </a:extLst>
          </p:cNvPr>
          <p:cNvSpPr/>
          <p:nvPr/>
        </p:nvSpPr>
        <p:spPr bwMode="auto">
          <a:xfrm>
            <a:off x="3774810" y="5392748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14</a:t>
            </a:r>
            <a:endParaRPr lang="zh-CN" altLang="en-US" sz="800" dirty="0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A0374B90-9BC9-47CF-8A44-114E40A70233}"/>
              </a:ext>
            </a:extLst>
          </p:cNvPr>
          <p:cNvSpPr/>
          <p:nvPr/>
        </p:nvSpPr>
        <p:spPr bwMode="auto">
          <a:xfrm>
            <a:off x="4248313" y="5392748"/>
            <a:ext cx="288032" cy="28803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triangle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800" dirty="0"/>
              <a:t>15</a:t>
            </a:r>
            <a:endParaRPr lang="zh-CN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5051141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/>
          <p:cNvSpPr>
            <a:spLocks noGrp="1"/>
          </p:cNvSpPr>
          <p:nvPr>
            <p:ph type="title"/>
          </p:nvPr>
        </p:nvSpPr>
        <p:spPr>
          <a:xfrm>
            <a:off x="457200" y="404813"/>
            <a:ext cx="8229600" cy="863947"/>
          </a:xfrm>
        </p:spPr>
        <p:txBody>
          <a:bodyPr/>
          <a:lstStyle/>
          <a:p>
            <a:pPr algn="l"/>
            <a:r>
              <a:rPr lang="en-US" altLang="zh-CN" sz="2800" dirty="0"/>
              <a:t>q-digest</a:t>
            </a:r>
            <a:r>
              <a:rPr lang="zh-CN" altLang="en-US" sz="2800" dirty="0"/>
              <a:t> </a:t>
            </a:r>
            <a:r>
              <a:rPr lang="en-US" altLang="zh-CN" sz="1800" dirty="0"/>
              <a:t>– </a:t>
            </a:r>
            <a:r>
              <a:rPr lang="zh-CN" altLang="en-US" sz="1800" dirty="0"/>
              <a:t>算法细节</a:t>
            </a:r>
            <a:r>
              <a:rPr lang="en-US" altLang="zh-CN" sz="1800" dirty="0"/>
              <a:t>3 </a:t>
            </a:r>
            <a:endParaRPr lang="zh-CN" altLang="en-US" sz="18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26089" y="1340768"/>
            <a:ext cx="8229600" cy="4752528"/>
          </a:xfrm>
        </p:spPr>
        <p:txBody>
          <a:bodyPr/>
          <a:lstStyle/>
          <a:p>
            <a:pPr marL="0" indent="0">
              <a:buNone/>
            </a:pPr>
            <a:endParaRPr lang="en-US" altLang="zh-C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51AA48F-46EE-4D92-AF76-7E2EE9F617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8EED6-EE10-4408-9228-0B69059AF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11" y="1340768"/>
            <a:ext cx="3600000" cy="190470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4A6238-E514-4902-AC58-588E73C57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341962"/>
            <a:ext cx="3600000" cy="1904709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FB65175-97E7-466E-84E8-6E07367288B4}"/>
              </a:ext>
            </a:extLst>
          </p:cNvPr>
          <p:cNvCxnSpPr>
            <a:endCxn id="2" idx="2"/>
          </p:cNvCxnSpPr>
          <p:nvPr/>
        </p:nvCxnSpPr>
        <p:spPr bwMode="auto">
          <a:xfrm>
            <a:off x="4540889" y="3429000"/>
            <a:ext cx="0" cy="26642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4853FAA5-5ACE-4482-A962-4CB4E4DEDD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31" y="3737303"/>
            <a:ext cx="3240360" cy="18930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4003623-4423-4C6C-901C-6F8CA8238145}"/>
                  </a:ext>
                </a:extLst>
              </p:cNvPr>
              <p:cNvSpPr txBox="1"/>
              <p:nvPr/>
            </p:nvSpPr>
            <p:spPr>
              <a:xfrm>
                <a:off x="4862152" y="3429000"/>
                <a:ext cx="4001868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endParaRPr lang="en-US" altLang="zh-CN" sz="2000" dirty="0">
                  <a:solidFill>
                    <a:srgbClr val="0070C0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Merge </a:t>
                </a:r>
                <a:r>
                  <a:rPr lang="zh-CN" altLang="en-US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</a:t>
                </a:r>
                <a:r>
                  <a:rPr lang="en-US" altLang="zh-CN" sz="200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1.    parent sensor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收到分别来自两个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child sensor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000" i="1" dirty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𝑄</m:t>
                    </m:r>
                    <m:r>
                      <a:rPr lang="en-US" altLang="zh-CN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∪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	</a:t>
                </a:r>
              </a:p>
              <a:p>
                <a:pPr>
                  <a:spcBef>
                    <a:spcPct val="20000"/>
                  </a:spcBef>
                </a:pP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3.   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对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𝑄</m:t>
                    </m:r>
                  </m:oMath>
                </a14:m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做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Compress 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操作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. </a:t>
                </a:r>
              </a:p>
              <a:p>
                <a:pPr>
                  <a:spcBef>
                    <a:spcPct val="20000"/>
                  </a:spcBef>
                </a:pPr>
                <a:endParaRPr lang="en-US" altLang="zh-CN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457200" indent="-457200">
                  <a:spcBef>
                    <a:spcPct val="20000"/>
                  </a:spcBef>
                  <a:buAutoNum type="arabicPeriod"/>
                </a:pPr>
                <a:endParaRPr lang="zh-CN" altLang="en-US" sz="20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4003623-4423-4C6C-901C-6F8CA823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152" y="3429000"/>
                <a:ext cx="4001868" cy="2923877"/>
              </a:xfrm>
              <a:prstGeom prst="rect">
                <a:avLst/>
              </a:prstGeom>
              <a:blipFill>
                <a:blip r:embed="rId6"/>
                <a:stretch>
                  <a:fillRect l="-1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444726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32814-40DF-485E-A8AD-7B6EA8ECE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2800" dirty="0"/>
              <a:t>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258C47-7052-49F9-BD6F-5354AE2BD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1. </a:t>
            </a:r>
            <a:r>
              <a:rPr lang="zh-CN" altLang="en-US" sz="2400" dirty="0">
                <a:latin typeface="+mn-ea"/>
              </a:rPr>
              <a:t>实际应用中，</a:t>
            </a:r>
            <a:r>
              <a:rPr lang="en-US" altLang="zh-CN" sz="2400" dirty="0">
                <a:latin typeface="+mn-ea"/>
              </a:rPr>
              <a:t>q-digest </a:t>
            </a:r>
            <a:r>
              <a:rPr lang="zh-CN" altLang="en-US" sz="2400" dirty="0">
                <a:latin typeface="+mn-ea"/>
              </a:rPr>
              <a:t>算法最关键的缺陷是什么？</a:t>
            </a: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>
              <a:latin typeface="+mn-ea"/>
            </a:endParaRPr>
          </a:p>
          <a:p>
            <a:pPr marL="0" indent="0">
              <a:buNone/>
            </a:pPr>
            <a:r>
              <a:rPr lang="en-US" altLang="zh-CN" sz="2400" dirty="0">
                <a:latin typeface="+mn-ea"/>
              </a:rPr>
              <a:t>2. </a:t>
            </a:r>
            <a:r>
              <a:rPr lang="zh-CN" altLang="en-US" sz="2400" dirty="0">
                <a:latin typeface="+mn-ea"/>
              </a:rPr>
              <a:t>对上述缺陷可以怎么改进？</a:t>
            </a:r>
            <a:endParaRPr lang="en-US" altLang="zh-CN" sz="2400" dirty="0">
              <a:latin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7834D6-E73F-4106-8E11-F5C3A155BC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76992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6410B-C07E-463B-B673-0FB9567CC8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445AC6-8E7C-4FD8-98F1-6B5AC70B509F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36F347-27BA-498E-8ABD-D831011B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724" y="3643485"/>
            <a:ext cx="4238625" cy="22002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63A7E89-F246-4108-A661-7E3D330855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548680"/>
            <a:ext cx="4581525" cy="26765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800B4DD-4018-41A0-9946-BA0F833438F4}"/>
              </a:ext>
            </a:extLst>
          </p:cNvPr>
          <p:cNvSpPr txBox="1"/>
          <p:nvPr/>
        </p:nvSpPr>
        <p:spPr>
          <a:xfrm>
            <a:off x="683568" y="177281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 - digest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F73A5A-E240-4CD2-A307-A8231A13D5BE}"/>
              </a:ext>
            </a:extLst>
          </p:cNvPr>
          <p:cNvSpPr txBox="1"/>
          <p:nvPr/>
        </p:nvSpPr>
        <p:spPr>
          <a:xfrm>
            <a:off x="683568" y="453118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 - digest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3098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1"/>
        </a:solidFill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triangle"/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algn="ctr">
          <a:solidFill>
            <a:schemeClr val="tx1"/>
          </a:solidFill>
          <a:round/>
          <a:headEnd/>
          <a:tailEnd/>
        </a:ln>
        <a:extLst>
          <a:ext uri="{909E8E84-426E-40DD-AFC4-6F175D3DCCD1}">
            <a14:hiddenFill xmlns:a14="http://schemas.microsoft.com/office/drawing/2010/main">
              <a:noFill/>
            </a14:hiddenFill>
          </a:ext>
        </a:extLst>
      </a:spPr>
      <a:bodyPr/>
      <a:lstStyle/>
    </a:lnDef>
  </a:objectDefaul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3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3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5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5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7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7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8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8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8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9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9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9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0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0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0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0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0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1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1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1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1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1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2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2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2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2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2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3_默认设计模板_2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13_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13_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_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3_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26187</TotalTime>
  <Pages>0</Pages>
  <Words>1445</Words>
  <Characters>0</Characters>
  <Application>Microsoft Office PowerPoint</Application>
  <DocSecurity>0</DocSecurity>
  <PresentationFormat>全屏显示(4:3)</PresentationFormat>
  <Lines>0</Lines>
  <Paragraphs>401</Paragraphs>
  <Slides>28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宋体</vt:lpstr>
      <vt:lpstr>Arial</vt:lpstr>
      <vt:lpstr>Cambria Math</vt:lpstr>
      <vt:lpstr>Times New Roman</vt:lpstr>
      <vt:lpstr>默认设计模板_2</vt:lpstr>
      <vt:lpstr>1_默认设计模板_2</vt:lpstr>
      <vt:lpstr>3_默认设计模板_2</vt:lpstr>
      <vt:lpstr>5_默认设计模板_2</vt:lpstr>
      <vt:lpstr>7_默认设计模板_2</vt:lpstr>
      <vt:lpstr>8_默认设计模板_2</vt:lpstr>
      <vt:lpstr>9_默认设计模板_2</vt:lpstr>
      <vt:lpstr>10_默认设计模板_2</vt:lpstr>
      <vt:lpstr>11_默认设计模板_2</vt:lpstr>
      <vt:lpstr>12_默认设计模板_2</vt:lpstr>
      <vt:lpstr>13_默认设计模板_2</vt:lpstr>
      <vt:lpstr>PowerPoint 演示文稿</vt:lpstr>
      <vt:lpstr>思维导图</vt:lpstr>
      <vt:lpstr>分位数的概念 – 定义  </vt:lpstr>
      <vt:lpstr>分位数的概念 – 示例</vt:lpstr>
      <vt:lpstr>分位数相关的查询 – 定义 &amp; 示例</vt:lpstr>
      <vt:lpstr>近似分位数算法的引入</vt:lpstr>
      <vt:lpstr>Reservoir Sampling – 算法背景  </vt:lpstr>
      <vt:lpstr>Reservoir Sampling – 算法细节  </vt:lpstr>
      <vt:lpstr>Random Sampling – 抽象过程  </vt:lpstr>
      <vt:lpstr>Random Sampling – 算法概述 </vt:lpstr>
      <vt:lpstr>Random Sampling – 算法细节  </vt:lpstr>
      <vt:lpstr>Random Sampling – 算法细节  </vt:lpstr>
      <vt:lpstr>Random Sampling – 算法细节  </vt:lpstr>
      <vt:lpstr>Random – 示例 </vt:lpstr>
      <vt:lpstr>Random – 示例 </vt:lpstr>
      <vt:lpstr>Random – 示例 </vt:lpstr>
      <vt:lpstr>Random – 示例 </vt:lpstr>
      <vt:lpstr>Random – 示例 </vt:lpstr>
      <vt:lpstr>q-digest – 主要思想 </vt:lpstr>
      <vt:lpstr>q-digest – 算法概述 </vt:lpstr>
      <vt:lpstr>q-digest – 值空间划分示例   </vt:lpstr>
      <vt:lpstr>q-digest – 算法细节1 </vt:lpstr>
      <vt:lpstr>q-digest – 压缩示例 </vt:lpstr>
      <vt:lpstr>q-digest – 压缩示例 </vt:lpstr>
      <vt:lpstr>q-digest – 算法细节2 </vt:lpstr>
      <vt:lpstr>q-digest – 算法细节3 </vt:lpstr>
      <vt:lpstr>问题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CTextEM: Using Consolidated Textual Data for Entity Matching</dc:title>
  <dc:subject/>
  <dc:creator>xyx</dc:creator>
  <cp:keywords/>
  <dc:description/>
  <cp:lastModifiedBy>於 同</cp:lastModifiedBy>
  <cp:revision>1404</cp:revision>
  <dcterms:created xsi:type="dcterms:W3CDTF">2016-04-07T08:02:19Z</dcterms:created>
  <dcterms:modified xsi:type="dcterms:W3CDTF">2019-11-24T08:45:28Z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2052-10.1.0.5559</vt:lpwstr>
  </property>
</Properties>
</file>